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Relationship Id="rId10" Type="http://schemas.openxmlformats.org/officeDocument/2006/relationships/image" Target="../media/image17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48.jpg"/><Relationship Id="rId8" Type="http://schemas.openxmlformats.org/officeDocument/2006/relationships/image" Target="../media/image49.jpg"/><Relationship Id="rId9" Type="http://schemas.openxmlformats.org/officeDocument/2006/relationships/image" Target="../media/image50.jpg"/><Relationship Id="rId10" Type="http://schemas.openxmlformats.org/officeDocument/2006/relationships/image" Target="../media/image51.jpg"/><Relationship Id="rId11" Type="http://schemas.openxmlformats.org/officeDocument/2006/relationships/image" Target="../media/image52.jpg"/><Relationship Id="rId12" Type="http://schemas.openxmlformats.org/officeDocument/2006/relationships/image" Target="../media/image53.jpg"/><Relationship Id="rId13" Type="http://schemas.openxmlformats.org/officeDocument/2006/relationships/image" Target="../media/image5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Relationship Id="rId10" Type="http://schemas.openxmlformats.org/officeDocument/2006/relationships/image" Target="../media/image6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Relationship Id="rId4" Type="http://schemas.openxmlformats.org/officeDocument/2006/relationships/image" Target="../media/image8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87.jpg"/><Relationship Id="rId7" Type="http://schemas.openxmlformats.org/officeDocument/2006/relationships/image" Target="../media/image88.jpg"/><Relationship Id="rId8" Type="http://schemas.openxmlformats.org/officeDocument/2006/relationships/image" Target="../media/image89.jpg"/><Relationship Id="rId9" Type="http://schemas.openxmlformats.org/officeDocument/2006/relationships/image" Target="../media/image90.jpg"/><Relationship Id="rId10" Type="http://schemas.openxmlformats.org/officeDocument/2006/relationships/image" Target="../media/image91.jpg"/><Relationship Id="rId11" Type="http://schemas.openxmlformats.org/officeDocument/2006/relationships/image" Target="../media/image92.jpg"/><Relationship Id="rId12" Type="http://schemas.openxmlformats.org/officeDocument/2006/relationships/image" Target="../media/image93.jpg"/><Relationship Id="rId13" Type="http://schemas.openxmlformats.org/officeDocument/2006/relationships/image" Target="../media/image9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image" Target="../media/image96.jpg"/><Relationship Id="rId4" Type="http://schemas.openxmlformats.org/officeDocument/2006/relationships/image" Target="../media/image97.jpg"/><Relationship Id="rId5" Type="http://schemas.openxmlformats.org/officeDocument/2006/relationships/image" Target="../media/image98.jpg"/><Relationship Id="rId6" Type="http://schemas.openxmlformats.org/officeDocument/2006/relationships/image" Target="../media/image99.jpg"/><Relationship Id="rId7" Type="http://schemas.openxmlformats.org/officeDocument/2006/relationships/image" Target="../media/image100.jpg"/><Relationship Id="rId8" Type="http://schemas.openxmlformats.org/officeDocument/2006/relationships/image" Target="../media/image101.jpg"/><Relationship Id="rId9" Type="http://schemas.openxmlformats.org/officeDocument/2006/relationships/image" Target="../media/image102.jpg"/><Relationship Id="rId10" Type="http://schemas.openxmlformats.org/officeDocument/2006/relationships/image" Target="../media/image103.jpg"/><Relationship Id="rId11" Type="http://schemas.openxmlformats.org/officeDocument/2006/relationships/image" Target="../media/image104.jpg"/><Relationship Id="rId12" Type="http://schemas.openxmlformats.org/officeDocument/2006/relationships/image" Target="../media/image105.jpg"/><Relationship Id="rId13" Type="http://schemas.openxmlformats.org/officeDocument/2006/relationships/image" Target="../media/image10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Relationship Id="rId3" Type="http://schemas.openxmlformats.org/officeDocument/2006/relationships/image" Target="../media/image108.jpg"/><Relationship Id="rId4" Type="http://schemas.openxmlformats.org/officeDocument/2006/relationships/image" Target="../media/image109.jpg"/><Relationship Id="rId5" Type="http://schemas.openxmlformats.org/officeDocument/2006/relationships/image" Target="../media/image110.jpg"/><Relationship Id="rId6" Type="http://schemas.openxmlformats.org/officeDocument/2006/relationships/image" Target="../media/image111.jpg"/><Relationship Id="rId7" Type="http://schemas.openxmlformats.org/officeDocument/2006/relationships/image" Target="../media/image112.jpg"/><Relationship Id="rId8" Type="http://schemas.openxmlformats.org/officeDocument/2006/relationships/image" Target="../media/image113.jpg"/><Relationship Id="rId9" Type="http://schemas.openxmlformats.org/officeDocument/2006/relationships/image" Target="../media/image1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144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DFA35C"/>
                </a:solidFill>
                <a:latin typeface="Arial"/>
              </a:rPr>
              <a:t>מצגת אישית בפני צוות מרפאת הכאב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760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9600" b="1">
                <a:solidFill>
                  <a:srgbClr val="DFA35C"/>
                </a:solidFill>
                <a:latin typeface="Arial"/>
              </a:rPr>
              <a:t>CRPS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5760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AF7F1"/>
                </a:solidFill>
                <a:latin typeface="Arial"/>
              </a:rPr>
              <a:t>תסמונת כאב אזורי מורכבת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Complex Regional Pain Syndrome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FAF7F1"/>
                </a:solidFill>
                <a:latin typeface="Arial"/>
              </a:rPr>
              <a:t>הסיפור של </a:t>
            </a:r>
            <a:r>
              <a:rPr sz="1800" b="1">
                <a:solidFill>
                  <a:srgbClr val="DFA35C"/>
                </a:solidFill>
                <a:latin typeface="Arial"/>
              </a:rPr>
              <a:t>הילית פז לביא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A9B2C4"/>
                </a:solidFill>
                <a:latin typeface="Arial"/>
              </a:rPr>
              <a:t>״איך לנצל כאב לעוצמה, כוח ונתינה״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פתיחה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420624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91440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פתיחה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6492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״אפצ׳י אחד שינה את חיי״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194560"/>
            <a:ext cx="6492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כך נקראת ההרצאה שאני מעבירה היום ברחבי הארץ — כי לפעמים מספיק רגע אחד קטן, תנועה אחת לא נכונה, כדי שהחיים ישתנו מהקצה אל הקצה.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אני אמא, אשת משפחה, אישה פעילה ומלאת חיים. ויום אחד — בלי אזהרה — הגוף שלי הפך לזירת קרב. כאב צורב, בלתי־פוסק, שאף בדיקה לא הצליחה להסביר ואף משכך לא הצליח להשתיק.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1">
                <a:solidFill>
                  <a:srgbClr val="8A4A1D"/>
                </a:solidFill>
                <a:latin typeface="Arial"/>
              </a:rPr>
              <a:t>זו לא הרצאה על מחלה. זה סיפור על החיים שמסביב לה — ועל מה שאתם, הרופאים, יכולים לעשות כדי לשנות אותם.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רקע קליני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מה זה CRPS?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תסמונת כאב כרונית־נוירופתית, המתפתחת לרוב לאחר חבלה או ניתוח — והכאב בה אינו פרופורציונלי לאירוע המחולל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5128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כאב שורף ומתמשך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כאב עז, צורב ועמוק בגפה — נמשך הרבה אחרי שהפציעה המקורית החלימה.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אלודיניה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מגע קל — סדין, בגד, רוח — נחווה ככאב חד. הגוף מתרגם כל גירוי לאיום.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שינויים נראים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נפיחות, שינויי צבע וטמפרטורה בעור, הזעה מוגברת, שינויים בציפורניים ובשיער.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פגיעה תפקודית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ירידה בטווח תנועה, חולשה ורעד — עד אובדן שימוש בגפה ופגיעה קשה בתפקוד.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9994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D6675"/>
                </a:solidFill>
                <a:latin typeface="Arial"/>
              </a:rPr>
              <a:t>ההנחה המקובלת: תגובה מוגזמת של מערכת העצבים — ״אזעקת כאב״ שנתקעה במצב פתוח.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רקע קליני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קריטריוני בודפשט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האבחנה קלינית בלבד — אין בדיקת מעבדה או הדמיה שמאשרת CRPS. נדרשים תסמינים בשלוש מתוך ארבע קטגוריות, וסימנים בשתיים לפחות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5128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תחושתי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היפראלגזיה · אלודיניה — כאב לא פרופורציונלי לגירוי.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וזומוטורי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אסימטריה בטמפרטורת העור · שינויי צבע — אדום, סגול, חיוור.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סודומוטורי / בצקת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נפיחות · שינויים בהזעה ואסימטריה בין הגפיים.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מוטורי / טרופי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ירידה בטווח תנועה · חולשה, רעד · שינויים בעור, שיער וציפורניים.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9994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D6675"/>
                </a:solidFill>
                <a:latin typeface="Arial"/>
              </a:rPr>
              <a:t>ולכן — החשד הקליני שלכם הוא כלי האבחון החשוב ביותר. כאב ״מוגזם״ ביחס לממצאים הוא לעיתים בדיוק הסימן.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9B2C4"/>
                </a:solidFill>
                <a:latin typeface="Arial"/>
              </a:rPr>
              <a:t>בשפה של מספרים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AF7F1"/>
                </a:solidFill>
                <a:latin typeface="Arial"/>
              </a:rPr>
              <a:t>כמה חזק הכאב הזה?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מדד הכאב של מקגיל (McGill) מדרג כאבים על סולם של 0–50, לפי דיווחי מטופלים — ככה נראה CRPS לעומת כאבים שכולנו מכירים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19456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שבר בעצם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14884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1F2C47"/>
          </a:solidFill>
          <a:ln w="6350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03290" y="2148840"/>
            <a:ext cx="2300630" cy="566928"/>
          </a:xfrm>
          <a:prstGeom prst="roundRect">
            <a:avLst>
              <a:gd name="adj" fmla="val 50000"/>
            </a:avLst>
          </a:prstGeom>
          <a:solidFill>
            <a:srgbClr val="5D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055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A9B2C4"/>
                </a:solidFill>
                <a:latin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063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לידה טבעית (ללא אלחוש)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301752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1F2C47"/>
          </a:solidFill>
          <a:ln w="6350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67328" y="3017520"/>
            <a:ext cx="4736592" cy="566928"/>
          </a:xfrm>
          <a:prstGeom prst="roundRect">
            <a:avLst>
              <a:gd name="adj" fmla="val 50000"/>
            </a:avLst>
          </a:prstGeom>
          <a:solidFill>
            <a:srgbClr val="5D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A9B2C4"/>
                </a:solidFill>
                <a:latin typeface="Arial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93192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קטיעת אצבע ללא הרדמה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88620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1F2C47"/>
          </a:solidFill>
          <a:ln w="6350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90672" y="3886200"/>
            <a:ext cx="5413248" cy="566928"/>
          </a:xfrm>
          <a:prstGeom prst="roundRect">
            <a:avLst>
              <a:gd name="adj" fmla="val 50000"/>
            </a:avLst>
          </a:prstGeom>
          <a:solidFill>
            <a:srgbClr val="5D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67912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A9B2C4"/>
                </a:solidFill>
                <a:latin typeface="Arial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846319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DFA35C"/>
                </a:solidFill>
                <a:latin typeface="Arial"/>
              </a:rPr>
              <a:t>CRPS — הכאב שאני חיה איתו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4754879"/>
            <a:ext cx="6766560" cy="713232"/>
          </a:xfrm>
          <a:prstGeom prst="roundRect">
            <a:avLst>
              <a:gd name="adj" fmla="val 50000"/>
            </a:avLst>
          </a:prstGeom>
          <a:solidFill>
            <a:srgbClr val="1F2C47"/>
          </a:solidFill>
          <a:ln w="6350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20010" y="4754879"/>
            <a:ext cx="5683910" cy="713232"/>
          </a:xfrm>
          <a:prstGeom prst="roundRect">
            <a:avLst>
              <a:gd name="adj" fmla="val 50000"/>
            </a:avLst>
          </a:prstGeom>
          <a:solidFill>
            <a:srgbClr val="DFA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00015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DFA35C"/>
                </a:solidFill>
                <a:latin typeface="Arial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A9B2C4"/>
                </a:solidFill>
                <a:latin typeface="Arial"/>
              </a:rPr>
              <a:t>והנקודה שחשוב לזכור: לידה נגמרת אחרי שעות, שבר מחלים אחרי שבועות — </a:t>
            </a:r>
            <a:r>
              <a:rPr sz="1300" b="1">
                <a:solidFill>
                  <a:srgbClr val="DFA35C"/>
                </a:solidFill>
                <a:latin typeface="Arial"/>
              </a:rPr>
              <a:t>הכאב של CRPS נמשך יום אחרי יום, שנה אחרי שנה.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685800"/>
            <a:ext cx="2505456" cy="1755648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2505456" cy="1755648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2551176"/>
            <a:ext cx="2505456" cy="1755648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51176"/>
            <a:ext cx="2505456" cy="1755648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824" y="4416552"/>
            <a:ext cx="2505456" cy="1755648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16552"/>
            <a:ext cx="2505456" cy="1755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המסע שלי · פרק א׳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הכאב שלא רואים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5486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אלה לא תמונות קלות — ובכוונה. ככה נראות שעות הלילה, כשהכאב מגיע לשיא ואין תנוחה אחת שמרגיעה אותו.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1">
                <a:solidFill>
                  <a:srgbClr val="8A4A1D"/>
                </a:solidFill>
                <a:latin typeface="Arial"/>
              </a:rPr>
              <a:t>בבדיקות הכל ״תקין״. בעיניים — הכל שבור. זה הפער שכל מטופלת CRPS חיה בתוכו יום־יום.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רגעים שאין להם פילטר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תיעוד אמיתי, לאורך חודשים — כי חשוב לי שתראו את מה שלא נכנס לתיק הרפואי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180" y="1965960"/>
            <a:ext cx="172669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1965960"/>
            <a:ext cx="172669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965960"/>
            <a:ext cx="172669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1965960"/>
            <a:ext cx="172669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965960"/>
            <a:ext cx="172669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965960"/>
            <a:ext cx="1726692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180" y="4261104"/>
            <a:ext cx="1726692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5760" y="4261104"/>
            <a:ext cx="1726692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9340" y="4261104"/>
            <a:ext cx="1726692" cy="218541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920" y="4261104"/>
            <a:ext cx="1726692" cy="2185416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261104"/>
            <a:ext cx="1726692" cy="2185416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61104"/>
            <a:ext cx="172669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ימים במחלקה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אשפוזים חוזרים, לילות של ניטור, אינספור בדיקות — הקירות הלבנים נהיו בית שני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965960"/>
            <a:ext cx="356311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0" y="1965960"/>
            <a:ext cx="356311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356311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4261104"/>
            <a:ext cx="356311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4261104"/>
            <a:ext cx="356311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61104"/>
            <a:ext cx="356311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בין עירוי לעירוי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גם במחלקה מוצאים רגעים של חיוך — בעיקר כשהילדים מגיעים לבקר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896" y="1965960"/>
            <a:ext cx="2093976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965960"/>
            <a:ext cx="2093976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965960"/>
            <a:ext cx="2093976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1965960"/>
            <a:ext cx="2093976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965960"/>
            <a:ext cx="2093976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4261104"/>
            <a:ext cx="2093976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1192" y="4261104"/>
            <a:ext cx="2093976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4261104"/>
            <a:ext cx="2093976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3784" y="4261104"/>
            <a:ext cx="2093976" cy="218541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261104"/>
            <a:ext cx="2093976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הטיפולים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עירויים חוזרים, משאבות, אלקטרודות, חסימות עצביות — מפסיקים לנסות רק מי שמוותרים, ואני לא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965960"/>
            <a:ext cx="356311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0" y="1965960"/>
            <a:ext cx="356311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356311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4261104"/>
            <a:ext cx="356311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4261104"/>
            <a:ext cx="356311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61104"/>
            <a:ext cx="356311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המסע שלי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הגוף כזירת טיפול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צנתרים, מוניטורים ומשאבות — המחיר היומיומי של המרדף אחרי הקלה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180" y="1965960"/>
            <a:ext cx="172669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1965960"/>
            <a:ext cx="172669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965960"/>
            <a:ext cx="172669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1965960"/>
            <a:ext cx="172669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965960"/>
            <a:ext cx="172669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965960"/>
            <a:ext cx="1726692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180" y="4261104"/>
            <a:ext cx="1726692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5760" y="4261104"/>
            <a:ext cx="1726692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9340" y="4261104"/>
            <a:ext cx="1726692" cy="218541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920" y="4261104"/>
            <a:ext cx="1726692" cy="2185416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261104"/>
            <a:ext cx="1726692" cy="2185416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61104"/>
            <a:ext cx="172669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48840"/>
            <a:ext cx="907999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הכאב לא תמיד נראה מבחוץ.</a:t>
            </a:r>
          </a:p>
          <a:p>
            <a:pPr algn="ctr" rtl="1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אבל הוא אמיתי — בכל שנייה, בכל נשימה.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206240"/>
            <a:ext cx="9079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FA35C"/>
                </a:solidFill>
                <a:latin typeface="Arial"/>
              </a:rPr>
              <a:t>— מה שכל מטופלת CRPS הייתה רוצה שתדעו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ההשפעה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מה הכאב לוקח מהחיים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CRPS הוא לא ״כאב בגפה״ — הוא מערכת חיים שלמה שמתערערת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5128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שינה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הכאב מתעצם בלילה. שנה שלמה בלי לילה רצוף אחד — וכל יום מתחיל בגירעון.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תפקוד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להתלבש, לבשל, לנהוג — פעולות שהיו אוטומטיות הופכות למשימות מתוכננות.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משפחה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הילדים לומדים לזהות את ״הימים הקשים״. התפקידים בבית מתהפכים.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0604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 rtl="1"/>
            <a:r>
              <a:rPr sz="1600" b="1">
                <a:solidFill>
                  <a:srgbClr val="8A4A1D"/>
                </a:solidFill>
                <a:latin typeface="Arial"/>
              </a:rPr>
              <a:t>זהות</a:t>
            </a:r>
          </a:p>
          <a:p>
            <a:pPr algn="ctr" rtl="1">
              <a:lnSpc>
                <a:spcPct val="115000"/>
              </a:lnSpc>
            </a:pPr>
            <a:r>
              <a:rPr sz="1150">
                <a:solidFill>
                  <a:srgbClr val="5D6675"/>
                </a:solidFill>
                <a:latin typeface="Arial"/>
              </a:rPr>
              <a:t>המאבק הכי גדול: להישאר אני — אישה, אמא, יוצרת — ולא ״החולה מחדר 4״.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9994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D6675"/>
                </a:solidFill>
                <a:latin typeface="Arial"/>
              </a:rPr>
              <a:t>ולמרות כל זה — השקפים הבאים הם הסיבה האמיתית שאני כאן.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ההשפעה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גם מנוחה היא מאבק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אחרי לילה של כאב, הגוף גובה את שלו — ברכב, על הספה, בכל רגע שמתאפשר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896" y="1965960"/>
            <a:ext cx="2093976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965960"/>
            <a:ext cx="2093976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965960"/>
            <a:ext cx="2093976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1965960"/>
            <a:ext cx="2093976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965960"/>
            <a:ext cx="2093976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4261104"/>
            <a:ext cx="2093976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1192" y="4261104"/>
            <a:ext cx="2093976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4261104"/>
            <a:ext cx="2093976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3784" y="4261104"/>
            <a:ext cx="2093976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נקודת מפנה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2834640" cy="54864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685800"/>
            <a:ext cx="283464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2801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נקודת מפנה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ובכל זאת — יוצאים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56032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היד חבושה, הכאב נוכח — ובכל זאת: קניון, הליכה, החיים. הבן שלי לצידי, תומך בכל צעד.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1">
                <a:solidFill>
                  <a:srgbClr val="8A4A1D"/>
                </a:solidFill>
                <a:latin typeface="Arial"/>
              </a:rPr>
              <a:t>למדתי שהכאב אולי קובע את הקצב — אבל אני קובעת את הכיוון.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המשפחה — התרופה שאין לה מרשם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הם היו שם בכל אשפוז, בכל לילה לבן. החיבוק שלהם שווה יותר מכל משכך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965960"/>
            <a:ext cx="356311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0" y="1965960"/>
            <a:ext cx="356311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356311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4261104"/>
            <a:ext cx="356311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4261104"/>
            <a:ext cx="356311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61104"/>
            <a:ext cx="356311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ממשיכים לחיות — בקול רם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מרוצים, אירועים, חברים — כל תמונה כאן היא החלטה מודעת לא לתת לכאב את המילה האחרונה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965960"/>
            <a:ext cx="356311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0" y="1965960"/>
            <a:ext cx="356311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65960"/>
            <a:ext cx="356311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760" y="4261104"/>
            <a:ext cx="356311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4261104"/>
            <a:ext cx="356311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61104"/>
            <a:ext cx="356311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0"/>
            <a:ext cx="475488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3716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הכוח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737360"/>
            <a:ext cx="5852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C2434"/>
                </a:solidFill>
                <a:latin typeface="Arial"/>
              </a:rPr>
              <a:t>לפעמים צריך תחפושת.</a:t>
            </a:r>
          </a:p>
          <a:p>
            <a:pPr algn="r" rtl="1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C2434"/>
                </a:solidFill>
                <a:latin typeface="Arial"/>
              </a:rPr>
              <a:t>בדרך כלל מספיק אומץ.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383280"/>
            <a:ext cx="5852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יום אחד הפכתי את עצמי לוונדר וומן — והבנתי שזו בכלל לא תחפושת. כל מי שקמה בבוקר עם CRPS ובוחרת לחיות את היום הזה בכל זאת — היא גיבורת־על אמיתית.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1">
                <a:solidFill>
                  <a:srgbClr val="8A4A1D"/>
                </a:solidFill>
                <a:latin typeface="Arial"/>
              </a:rPr>
              <a:t>וכשצריך כתר — שמים כתר. 👑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 · נתינה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72" y="1280160"/>
            <a:ext cx="1542288" cy="429768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656" y="1280160"/>
            <a:ext cx="1542288" cy="429768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154228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D6675"/>
                </a:solidFill>
                <a:latin typeface="Arial"/>
              </a:rPr>
              <a:t>ערכה לכבוד אביתר דוד ששב מהשבי · נעלי ״עם ישראל חי״ בעבודת יד · בדרך למסירה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8229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הכוח · נתינה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188720"/>
            <a:ext cx="5760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2434"/>
                </a:solidFill>
                <a:latin typeface="Arial"/>
              </a:rPr>
              <a:t>הפכתי את הכאב לנתינה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057400"/>
            <a:ext cx="57607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C2434"/>
                </a:solidFill>
                <a:latin typeface="Arial"/>
              </a:rPr>
              <a:t>במקום לשאול ״למה זה קרה לי״, התחלתי לשאול ״מה אני עושה עם זה״. כך נולד מיזם הנתינה שלי: נעליים בעבודת יד עם הכיתוב ״עם ישראל חי״, שאני מעניקה באופן אישי לחטופים ששבו מהשבי ולשורדי הטבח במסיבת הנובה.</a:t>
            </a:r>
          </a:p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C2434"/>
                </a:solidFill>
                <a:latin typeface="Arial"/>
              </a:rPr>
              <a:t>והדלת שלי לא נסגרת: אני מארחת אצלי בבית, סביב שולחן וארוחה חמה, שבים מהשבי, שורדי המסיבה והורים שכולים של נרצחי השבעה באוקטובר — ביד פתוחה ובלב שלם.</a:t>
            </a:r>
          </a:p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8A4A1D"/>
                </a:solidFill>
                <a:latin typeface="Arial"/>
              </a:rPr>
              <a:t>כאב מזהה כאב — והנתינה הזאת מרפאת גם אותי.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״עם ישראל חי״ — לשבים מהשבי ולשורדי הנובה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בתמונות: מי שנחטפו לעזה וחזרו הביתה, ומי ששרדו את הטבח במסיבת הנובה בשבעה באוקטובר — כל אחד מקבל זוג מצויר ביד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180" y="1965960"/>
            <a:ext cx="172669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1965960"/>
            <a:ext cx="172669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965960"/>
            <a:ext cx="172669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1965960"/>
            <a:ext cx="172669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965960"/>
            <a:ext cx="172669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965960"/>
            <a:ext cx="1726692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180" y="4261104"/>
            <a:ext cx="1726692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5760" y="4261104"/>
            <a:ext cx="1726692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9340" y="4261104"/>
            <a:ext cx="1726692" cy="218541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920" y="4261104"/>
            <a:ext cx="1726692" cy="2185416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261104"/>
            <a:ext cx="1726692" cy="2185416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61104"/>
            <a:ext cx="172669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We Will Dance Again — עוד נרקוד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המוטו של שורדי הנובה הפך אצלי לשליחות: להגיע לכל שורד ושורדת, ולהזכיר שהריקוד שלהם עוד לפניהם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180" y="1965960"/>
            <a:ext cx="172669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1965960"/>
            <a:ext cx="172669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965960"/>
            <a:ext cx="172669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1965960"/>
            <a:ext cx="172669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965960"/>
            <a:ext cx="172669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1965960"/>
            <a:ext cx="1726692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180" y="4261104"/>
            <a:ext cx="1726692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5760" y="4261104"/>
            <a:ext cx="1726692" cy="2185416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9340" y="4261104"/>
            <a:ext cx="1726692" cy="2185416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920" y="4261104"/>
            <a:ext cx="1726692" cy="2185416"/>
          </a:xfrm>
          <a:prstGeom prst="rect">
            <a:avLst/>
          </a:prstGeom>
        </p:spPr>
      </p:pic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261104"/>
            <a:ext cx="1726692" cy="2185416"/>
          </a:xfrm>
          <a:prstGeom prst="rect">
            <a:avLst/>
          </a:prstGeom>
        </p:spPr>
      </p:pic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61104"/>
            <a:ext cx="172669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הכוח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C2434"/>
                </a:solidFill>
                <a:latin typeface="Arial"/>
              </a:rPr>
              <a:t>ובית שהדלת שלו תמיד פתוחה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0799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5D6675"/>
                </a:solidFill>
                <a:latin typeface="Arial"/>
              </a:rPr>
              <a:t>את חלקם אירחתי אצלי בבית — שבים מהשבי, שורדי המסיבה והורים שכולים של נרצחי השבעה באוקטובר — סביב שולחן, ארוחה חמה ולב פתוח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0" y="1965960"/>
            <a:ext cx="2644902" cy="2185416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965960"/>
            <a:ext cx="2644902" cy="2185416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710" y="1965960"/>
            <a:ext cx="2644902" cy="2185416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65960"/>
            <a:ext cx="2644902" cy="2185416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0" y="4261104"/>
            <a:ext cx="2644902" cy="218541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4261104"/>
            <a:ext cx="2644902" cy="2185416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4710" y="4261104"/>
            <a:ext cx="2644902" cy="2185416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261104"/>
            <a:ext cx="2644902" cy="2185416"/>
          </a:xfrm>
          <a:prstGeom prst="rect">
            <a:avLst/>
          </a:prstGeom>
        </p:spPr>
      </p:pic>
    </p:spTree>
  </p:cSld>
  <p:clrMapOvr>
    <a:masterClrMapping/>
  </p:clrMapOvr>
  <p:transition xmlns:p="http://schemas.openxmlformats.org/presentationml/2006/main"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D6675"/>
                </a:solidFill>
                <a:latin typeface="Arial"/>
              </a:rPr>
              <a:t>השמעת קול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329184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109728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B4642A"/>
                </a:solidFill>
                <a:latin typeface="Arial"/>
              </a:rPr>
              <a:t>הכוח · השמעת קול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2434"/>
                </a:solidFill>
                <a:latin typeface="Arial"/>
              </a:rPr>
              <a:t>היום אני עומדת על במות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377440"/>
            <a:ext cx="6766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אני מרצה לקהילות ברחבי הארץ על החיים עם כאב כרוני: ״אפצ׳י אחד שינה את חיי — איך לנצל כאב לעוצמה, כוח ונתינה״.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0">
                <a:solidFill>
                  <a:srgbClr val="1C2434"/>
                </a:solidFill>
                <a:latin typeface="Arial"/>
              </a:rPr>
              <a:t>מי שפעם לא הצליחה לקום מהמיטה — מחזיקה היום מיקרופון מול קהל. זה לא קרה למרות הכאב. זה קרה בגללו — כי בחרתי לתת לו משמעות.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450" b="1">
                <a:solidFill>
                  <a:srgbClr val="8A4A1D"/>
                </a:solidFill>
                <a:latin typeface="Arial"/>
              </a:rPr>
              <a:t>והמצגת הזאת, מולכם — היא הבמה הכי חשובה שלי עד היום.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9B2C4"/>
                </a:solidFill>
                <a:latin typeface="Arial"/>
              </a:rPr>
              <a:t>המסר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999439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AF7F1"/>
                </a:solidFill>
                <a:latin typeface="Arial"/>
              </a:rPr>
              <a:t>מה מטופלת CRPS מבקשת מהרופאים שלה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00200"/>
            <a:ext cx="9445752" cy="822960"/>
          </a:xfrm>
          <a:prstGeom prst="roundRect">
            <a:avLst>
              <a:gd name="adj" fmla="val 16000"/>
            </a:avLst>
          </a:prstGeom>
          <a:solidFill>
            <a:srgbClr val="1F2C47"/>
          </a:solidFill>
          <a:ln w="9525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709928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DFA3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55648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תאמינו לנו. </a:t>
            </a:r>
            <a:r>
              <a:rPr sz="1300" b="0">
                <a:solidFill>
                  <a:srgbClr val="A9B2C4"/>
                </a:solidFill>
                <a:latin typeface="Arial"/>
              </a:rPr>
              <a:t>הכאב אמיתי גם כשההדמיה תקינה. ״אני מאמין לך״ שווה יותר מעשר בדיקות.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32888"/>
            <a:ext cx="9445752" cy="822960"/>
          </a:xfrm>
          <a:prstGeom prst="roundRect">
            <a:avLst>
              <a:gd name="adj" fmla="val 16000"/>
            </a:avLst>
          </a:prstGeom>
          <a:solidFill>
            <a:srgbClr val="1F2C47"/>
          </a:solidFill>
          <a:ln w="9525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2642616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DFA35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88336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חשדו מוקדם. </a:t>
            </a:r>
            <a:r>
              <a:rPr sz="1300" b="0">
                <a:solidFill>
                  <a:srgbClr val="A9B2C4"/>
                </a:solidFill>
                <a:latin typeface="Arial"/>
              </a:rPr>
              <a:t>ב‑CRPS הזמן הוא פרוגנוזה: אבחון והתערבות מוקדמים משנים את מהלך המחלה.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65576"/>
            <a:ext cx="9445752" cy="822960"/>
          </a:xfrm>
          <a:prstGeom prst="roundRect">
            <a:avLst>
              <a:gd name="adj" fmla="val 16000"/>
            </a:avLst>
          </a:prstGeom>
          <a:solidFill>
            <a:srgbClr val="1F2C47"/>
          </a:solidFill>
          <a:ln w="9525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357530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DFA35C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21024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טפלו רב־תחומית. </a:t>
            </a:r>
            <a:r>
              <a:rPr sz="1300" b="0">
                <a:solidFill>
                  <a:srgbClr val="A9B2C4"/>
                </a:solidFill>
                <a:latin typeface="Arial"/>
              </a:rPr>
              <a:t>כאב, פיזיותרפיה, תמיכה נפשית ומשפחה — אף טיפול בודד לא מספיק לבדו.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98264"/>
            <a:ext cx="9445752" cy="822960"/>
          </a:xfrm>
          <a:prstGeom prst="roundRect">
            <a:avLst>
              <a:gd name="adj" fmla="val 16000"/>
            </a:avLst>
          </a:prstGeom>
          <a:solidFill>
            <a:srgbClr val="1F2C47"/>
          </a:solidFill>
          <a:ln w="9525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450799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DFA35C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53712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שמרו על רצף. </a:t>
            </a:r>
            <a:r>
              <a:rPr sz="1300" b="0">
                <a:solidFill>
                  <a:srgbClr val="A9B2C4"/>
                </a:solidFill>
                <a:latin typeface="Arial"/>
              </a:rPr>
              <a:t>אל תתנו לנו להתחיל כל פעם מאפס מול רופא חדש. ליווי קבוע הוא עוגן.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30952"/>
            <a:ext cx="9445752" cy="822960"/>
          </a:xfrm>
          <a:prstGeom prst="roundRect">
            <a:avLst>
              <a:gd name="adj" fmla="val 16000"/>
            </a:avLst>
          </a:prstGeom>
          <a:solidFill>
            <a:srgbClr val="1F2C47"/>
          </a:solidFill>
          <a:ln w="9525">
            <a:solidFill>
              <a:srgbClr val="3A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544068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DFA35C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86400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תראו את האדם. </a:t>
            </a:r>
            <a:r>
              <a:rPr sz="1300" b="0">
                <a:solidFill>
                  <a:srgbClr val="A9B2C4"/>
                </a:solidFill>
                <a:latin typeface="Arial"/>
              </a:rPr>
              <a:t>לא רק את הגפה. תמכו בזהות, בעשייה ובתקווה — הן חלק מהטיפול.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554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DFA35C"/>
                </a:solidFill>
                <a:latin typeface="Arial"/>
              </a:rPr>
              <a:t>תודה שהקשבתם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760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AF7F1"/>
                </a:solidFill>
                <a:latin typeface="Arial"/>
              </a:rPr>
              <a:t>כל יום הוא ניצחון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DFA35C"/>
                </a:solidFill>
                <a:latin typeface="Arial"/>
              </a:rPr>
              <a:t>הילית פז לביא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A9B2C4"/>
                </a:solidFill>
                <a:latin typeface="Arial"/>
              </a:rPr>
              <a:t>״הכאב הוא חלק מהסיפור שלי — אבל הוא לא כל הסיפור.״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DFA35C"/>
                </a:solidFill>
                <a:latin typeface="Arial"/>
              </a:rPr>
              <a:t>#CRPS_Awareness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